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sldIdLst>
    <p:sldId id="256" r:id="rId2"/>
    <p:sldId id="263" r:id="rId3"/>
    <p:sldId id="261" r:id="rId4"/>
    <p:sldId id="257" r:id="rId5"/>
    <p:sldId id="258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E5DC"/>
    <a:srgbClr val="3BFFE8"/>
    <a:srgbClr val="D7E3FC"/>
    <a:srgbClr val="0011B0"/>
    <a:srgbClr val="444444"/>
    <a:srgbClr val="2C3E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A6F0AA-AEB4-8F74-9C25-EA1C6FE473DF}" v="147" vWet="148" dt="2025-02-21T13:42:20.003"/>
    <p1510:client id="{3B006BA6-AD4E-BB2A-FC0E-CF9EFCD7F16A}" v="35" dt="2025-02-21T12:31:02.997"/>
    <p1510:client id="{8A4A6A17-5B3D-8C15-3154-1C8921D36559}" v="266" dt="2025-02-21T13:39:25.487"/>
    <p1510:client id="{AE8DC09F-DFFC-45CF-9CC5-E69C1A28EA6B}" v="1247" dt="2025-02-21T13:59:22.9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85498-8EA9-461E-9FB8-F9DFBEB6FB52}" type="datetimeFigureOut">
              <a:rPr lang="en-IN" smtClean="0"/>
              <a:t>22-02-2025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3CC8C41-5CDC-46AF-B250-1B61F1EF8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1830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85498-8EA9-461E-9FB8-F9DFBEB6FB52}" type="datetimeFigureOut">
              <a:rPr lang="en-IN" smtClean="0"/>
              <a:t>22-02-2025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C8C41-5CDC-46AF-B250-1B61F1EF8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7568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85498-8EA9-461E-9FB8-F9DFBEB6FB52}" type="datetimeFigureOut">
              <a:rPr lang="en-IN" smtClean="0"/>
              <a:t>22-02-2025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3CC8C41-5CDC-46AF-B250-1B61F1EF8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3891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85498-8EA9-461E-9FB8-F9DFBEB6FB52}" type="datetimeFigureOut">
              <a:rPr lang="en-IN" smtClean="0"/>
              <a:t>22-02-2025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3CC8C41-5CDC-46AF-B250-1B61F1EF8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655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85498-8EA9-461E-9FB8-F9DFBEB6FB52}" type="datetimeFigureOut">
              <a:rPr lang="en-IN" smtClean="0"/>
              <a:t>22-02-2025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3CC8C41-5CDC-46AF-B250-1B61F1EF8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74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85498-8EA9-461E-9FB8-F9DFBEB6FB52}" type="datetimeFigureOut">
              <a:rPr lang="en-IN" smtClean="0"/>
              <a:t>22-02-2025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C8C41-5CDC-46AF-B250-1B61F1EF8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127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85498-8EA9-461E-9FB8-F9DFBEB6FB52}" type="datetimeFigureOut">
              <a:rPr lang="en-IN" smtClean="0"/>
              <a:t>22-02-2025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C8C41-5CDC-46AF-B250-1B61F1EF8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325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85498-8EA9-461E-9FB8-F9DFBEB6FB52}" type="datetimeFigureOut">
              <a:rPr lang="en-IN" smtClean="0"/>
              <a:t>22-02-2025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C8C41-5CDC-46AF-B250-1B61F1EF8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221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85498-8EA9-461E-9FB8-F9DFBEB6FB52}" type="datetimeFigureOut">
              <a:rPr lang="en-IN" smtClean="0"/>
              <a:t>22-02-2025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3CC8C41-5CDC-46AF-B250-1B61F1EF8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539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85498-8EA9-461E-9FB8-F9DFBEB6FB52}" type="datetimeFigureOut">
              <a:rPr lang="en-IN" smtClean="0"/>
              <a:t>22-02-2025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3CC8C41-5CDC-46AF-B250-1B61F1EF8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500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85498-8EA9-461E-9FB8-F9DFBEB6FB52}" type="datetimeFigureOut">
              <a:rPr lang="en-IN" smtClean="0"/>
              <a:t>22-02-2025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3CC8C41-5CDC-46AF-B250-1B61F1EF8B25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3418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85498-8EA9-461E-9FB8-F9DFBEB6FB52}" type="datetimeFigureOut">
              <a:rPr lang="en-IN" smtClean="0"/>
              <a:t>22-02-2025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3CC8C41-5CDC-46AF-B250-1B61F1EF8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7763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85498-8EA9-461E-9FB8-F9DFBEB6FB52}" type="datetimeFigureOut">
              <a:rPr lang="en-IN" smtClean="0"/>
              <a:t>22-02-2025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3CC8C41-5CDC-46AF-B250-1B61F1EF8B25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759744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85498-8EA9-461E-9FB8-F9DFBEB6FB52}" type="datetimeFigureOut">
              <a:rPr lang="en-IN" smtClean="0"/>
              <a:t>22-02-2025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3CC8C41-5CDC-46AF-B250-1B61F1EF8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75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85498-8EA9-461E-9FB8-F9DFBEB6FB52}" type="datetimeFigureOut">
              <a:rPr lang="en-IN" smtClean="0"/>
              <a:t>22-02-2025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C8C41-5CDC-46AF-B250-1B61F1EF8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4502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85498-8EA9-461E-9FB8-F9DFBEB6FB52}" type="datetimeFigureOut">
              <a:rPr lang="en-IN" smtClean="0"/>
              <a:t>22-02-2025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C8C41-5CDC-46AF-B250-1B61F1EF8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131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59000">
              <a:schemeClr val="accent6">
                <a:lumMod val="45000"/>
                <a:lumOff val="55000"/>
              </a:schemeClr>
            </a:gs>
            <a:gs pos="11168">
              <a:srgbClr val="BCDACE"/>
            </a:gs>
            <a:gs pos="0">
              <a:schemeClr val="accent6">
                <a:lumMod val="45000"/>
                <a:lumOff val="55000"/>
              </a:schemeClr>
            </a:gs>
            <a:gs pos="88000">
              <a:schemeClr val="accent6">
                <a:lumMod val="30000"/>
                <a:lumOff val="70000"/>
              </a:schemeClr>
            </a:gs>
          </a:gsLst>
          <a:path path="rect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685498-8EA9-461E-9FB8-F9DFBEB6FB52}" type="datetimeFigureOut">
              <a:rPr lang="en-IN" smtClean="0"/>
              <a:t>22-02-2025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3CC8C41-5CDC-46AF-B250-1B61F1EF8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559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37C20B2-20A9-CBD0-B5FE-A5B601C8F6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8299" y="2302717"/>
            <a:ext cx="8915399" cy="1126283"/>
          </a:xfrm>
        </p:spPr>
        <p:txBody>
          <a:bodyPr>
            <a:normAutofit fontScale="40000" lnSpcReduction="20000"/>
          </a:bodyPr>
          <a:lstStyle/>
          <a:p>
            <a:pPr algn="ctr"/>
            <a:r>
              <a:rPr lang="en-US" sz="9600">
                <a:solidFill>
                  <a:srgbClr val="002060"/>
                </a:solidFill>
                <a:latin typeface="Cooper Black" panose="0208090404030B020404" pitchFamily="18" charset="0"/>
              </a:rPr>
              <a:t>“Share Your Feelings, Uplift Your Mood, and Connect with Yourself!”</a:t>
            </a:r>
          </a:p>
          <a:p>
            <a:pPr algn="ctr"/>
            <a:endParaRPr lang="en-US" sz="2400">
              <a:solidFill>
                <a:srgbClr val="002060"/>
              </a:solidFill>
              <a:latin typeface="Cooper Black" panose="0208090404030B020404" pitchFamily="18" charset="0"/>
            </a:endParaRPr>
          </a:p>
          <a:p>
            <a:pPr algn="ctr"/>
            <a:endParaRPr lang="en-US" sz="2400">
              <a:solidFill>
                <a:srgbClr val="002060"/>
              </a:solidFill>
              <a:latin typeface="Cooper Black" panose="0208090404030B0204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D9AC0B-1EAB-33B3-A18D-DEBA78857A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0497" y="109330"/>
            <a:ext cx="4151005" cy="1916240"/>
          </a:xfrm>
          <a:prstGeom prst="rect">
            <a:avLst/>
          </a:prstGeom>
          <a:solidFill>
            <a:schemeClr val="bg2">
              <a:lumMod val="10000"/>
            </a:schemeClr>
          </a:solidFill>
          <a:ln w="57150"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AF1104-2230-7FCC-EDA8-2B2C97E0EAA7}"/>
              </a:ext>
            </a:extLst>
          </p:cNvPr>
          <p:cNvSpPr txBox="1"/>
          <p:nvPr/>
        </p:nvSpPr>
        <p:spPr>
          <a:xfrm>
            <a:off x="2324967" y="4145469"/>
            <a:ext cx="70815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Cooper Black" panose="0208090404030B020404" pitchFamily="18" charset="0"/>
              </a:rPr>
              <a:t>Created By </a:t>
            </a:r>
            <a:r>
              <a:rPr lang="en-US" sz="2800" i="1" dirty="0">
                <a:solidFill>
                  <a:srgbClr val="002060"/>
                </a:solidFill>
                <a:latin typeface="Cooper Black" panose="0208090404030B020404" pitchFamily="18" charset="0"/>
              </a:rPr>
              <a:t>Team Hikers</a:t>
            </a:r>
            <a:r>
              <a:rPr lang="en-US" sz="2800" dirty="0">
                <a:solidFill>
                  <a:srgbClr val="002060"/>
                </a:solidFill>
                <a:latin typeface="Cooper Black" panose="0208090404030B020404" pitchFamily="18" charset="0"/>
              </a:rPr>
              <a:t>:</a:t>
            </a:r>
          </a:p>
          <a:p>
            <a:br>
              <a:rPr lang="en-US" sz="800" dirty="0">
                <a:solidFill>
                  <a:srgbClr val="002060"/>
                </a:solidFill>
                <a:latin typeface="Cooper Black" panose="0208090404030B020404" pitchFamily="18" charset="0"/>
              </a:rPr>
            </a:br>
            <a:r>
              <a:rPr lang="en-US" sz="1800" dirty="0">
                <a:solidFill>
                  <a:srgbClr val="002060"/>
                </a:solidFill>
                <a:latin typeface="Cooper Black" panose="0208090404030B020404" pitchFamily="18" charset="0"/>
              </a:rPr>
              <a:t>Harshita Gupta</a:t>
            </a:r>
          </a:p>
          <a:p>
            <a:r>
              <a:rPr lang="en-US" sz="1800" dirty="0" err="1">
                <a:solidFill>
                  <a:srgbClr val="002060"/>
                </a:solidFill>
                <a:latin typeface="Cooper Black" panose="0208090404030B020404" pitchFamily="18" charset="0"/>
              </a:rPr>
              <a:t>Avika</a:t>
            </a:r>
            <a:r>
              <a:rPr lang="en-US" sz="1800" dirty="0">
                <a:solidFill>
                  <a:srgbClr val="002060"/>
                </a:solidFill>
                <a:latin typeface="Cooper Black" panose="0208090404030B020404" pitchFamily="18" charset="0"/>
              </a:rPr>
              <a:t> Goel</a:t>
            </a:r>
          </a:p>
          <a:p>
            <a:r>
              <a:rPr lang="en-US" sz="1800" dirty="0" err="1">
                <a:solidFill>
                  <a:srgbClr val="002060"/>
                </a:solidFill>
                <a:latin typeface="Cooper Black" panose="0208090404030B020404" pitchFamily="18" charset="0"/>
              </a:rPr>
              <a:t>Fabeha</a:t>
            </a:r>
            <a:r>
              <a:rPr lang="en-US" sz="1800" dirty="0">
                <a:solidFill>
                  <a:srgbClr val="002060"/>
                </a:solidFill>
                <a:latin typeface="Cooper Black" panose="0208090404030B020404" pitchFamily="18" charset="0"/>
              </a:rPr>
              <a:t> Khalid</a:t>
            </a:r>
            <a:endParaRPr lang="en-IN" sz="1800" dirty="0">
              <a:solidFill>
                <a:srgbClr val="002060"/>
              </a:solidFill>
              <a:latin typeface="Cooper Black" panose="0208090404030B0204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7631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D2B16-CD14-291D-0009-7BA077FE1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523" y="643565"/>
            <a:ext cx="10337293" cy="82531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2060"/>
                </a:solidFill>
                <a:latin typeface="Cooper Black" panose="0208090404030B020404" pitchFamily="18" charset="0"/>
              </a:rPr>
              <a:t>Using Open Innovation for Mental Health</a:t>
            </a:r>
            <a:br>
              <a:rPr lang="en-US" dirty="0">
                <a:solidFill>
                  <a:srgbClr val="002060"/>
                </a:solidFill>
                <a:latin typeface="Cooper Black" panose="0208090404030B020404" pitchFamily="18" charset="0"/>
              </a:rPr>
            </a:br>
            <a:endParaRPr lang="en-IN" dirty="0">
              <a:solidFill>
                <a:srgbClr val="002060"/>
              </a:solidFill>
              <a:latin typeface="Cooper Black" panose="0208090404030B0204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34C18-7959-F9EF-63DF-BE4BAAE09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319" y="1595336"/>
            <a:ext cx="10337293" cy="4315886"/>
          </a:xfrm>
        </p:spPr>
        <p:txBody>
          <a:bodyPr/>
          <a:lstStyle/>
          <a:p>
            <a:pPr marL="0" indent="0">
              <a:buNone/>
            </a:pPr>
            <a:r>
              <a:rPr lang="en-US" sz="2400" u="sng" dirty="0">
                <a:solidFill>
                  <a:srgbClr val="002060"/>
                </a:solidFill>
                <a:latin typeface="Cooper Black" panose="0208090404030B020404" pitchFamily="18" charset="0"/>
              </a:rPr>
              <a:t>Feel Well Embraces Open Innovation: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u="sng" dirty="0">
                <a:solidFill>
                  <a:srgbClr val="002060"/>
                </a:solidFill>
                <a:latin typeface="Cooper Black" panose="0208090404030B020404" pitchFamily="18" charset="0"/>
              </a:rPr>
              <a:t>Collaborative Development</a:t>
            </a:r>
            <a:endParaRPr lang="en-US" sz="2000" u="sng" dirty="0">
              <a:solidFill>
                <a:srgbClr val="002060"/>
              </a:solidFill>
              <a:latin typeface="Cooper Black" panose="0208090404030B0204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2060"/>
                </a:solidFill>
                <a:latin typeface="Cooper Black" panose="0208090404030B020404" pitchFamily="18" charset="0"/>
              </a:rPr>
              <a:t>Integrates AI, psychology, and user feedback for enhanced mental health support.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u="sng" dirty="0">
                <a:solidFill>
                  <a:srgbClr val="002060"/>
                </a:solidFill>
                <a:latin typeface="Cooper Black" panose="0208090404030B020404" pitchFamily="18" charset="0"/>
              </a:rPr>
              <a:t>User-Centered Approach</a:t>
            </a:r>
            <a:endParaRPr lang="en-US" sz="2000" u="sng" dirty="0">
              <a:solidFill>
                <a:srgbClr val="002060"/>
              </a:solidFill>
              <a:latin typeface="Cooper Black" panose="0208090404030B0204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2060"/>
                </a:solidFill>
                <a:latin typeface="Cooper Black" panose="0208090404030B020404" pitchFamily="18" charset="0"/>
              </a:rPr>
              <a:t>Personalized mood-based features for emotional well-being.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u="sng" dirty="0">
                <a:solidFill>
                  <a:srgbClr val="002060"/>
                </a:solidFill>
                <a:latin typeface="Cooper Black" panose="0208090404030B020404" pitchFamily="18" charset="0"/>
              </a:rPr>
              <a:t>Technology &amp; Well-being</a:t>
            </a:r>
            <a:endParaRPr lang="en-US" sz="2000" u="sng" dirty="0">
              <a:solidFill>
                <a:srgbClr val="002060"/>
              </a:solidFill>
              <a:latin typeface="Cooper Black" panose="0208090404030B0204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2060"/>
                </a:solidFill>
                <a:latin typeface="Cooper Black" panose="0208090404030B020404" pitchFamily="18" charset="0"/>
              </a:rPr>
              <a:t>AI-powered chat, speech analysis, and music recommendations for better mental health.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843980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C8335-5DAD-68C3-3F8D-4ED902C15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u="sng" dirty="0">
                <a:solidFill>
                  <a:srgbClr val="002060"/>
                </a:solidFill>
                <a:latin typeface="Cooper Black"/>
              </a:rPr>
              <a:t>Mental Health</a:t>
            </a:r>
            <a:endParaRPr lang="en-US" sz="3800" u="sng" dirty="0">
              <a:latin typeface="Cooper Black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C6F976-A3B5-2B2E-AE3F-F0B57F078D43}"/>
              </a:ext>
            </a:extLst>
          </p:cNvPr>
          <p:cNvSpPr txBox="1"/>
          <p:nvPr/>
        </p:nvSpPr>
        <p:spPr>
          <a:xfrm>
            <a:off x="1534633" y="1623238"/>
            <a:ext cx="6065873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  <a:latin typeface="Cooper Black"/>
              </a:rPr>
              <a:t>Mental health plays a crucial role in daily life, affecting emotions, decisions, and overall well-being. Mood swings can disrupt focus and productivity, making it essential to manage emotions effectively. </a:t>
            </a:r>
            <a:r>
              <a:rPr lang="en-US" sz="2000" b="1" dirty="0" err="1">
                <a:solidFill>
                  <a:srgbClr val="002060"/>
                </a:solidFill>
                <a:latin typeface="Cooper Black"/>
              </a:rPr>
              <a:t>FeelWell</a:t>
            </a:r>
            <a:r>
              <a:rPr lang="en-US" sz="2000" dirty="0">
                <a:solidFill>
                  <a:srgbClr val="002060"/>
                </a:solidFill>
                <a:latin typeface="Cooper Black"/>
              </a:rPr>
              <a:t> helps users understand and regulate their moods by offering mood-based song recommendations, a supportive </a:t>
            </a:r>
            <a:r>
              <a:rPr lang="en-US" sz="2000" dirty="0" err="1">
                <a:solidFill>
                  <a:srgbClr val="002060"/>
                </a:solidFill>
                <a:latin typeface="Cooper Black"/>
              </a:rPr>
              <a:t>chatbox</a:t>
            </a:r>
            <a:r>
              <a:rPr lang="en-US" sz="2000" dirty="0">
                <a:solidFill>
                  <a:srgbClr val="002060"/>
                </a:solidFill>
                <a:latin typeface="Cooper Black"/>
              </a:rPr>
              <a:t>, and interactive features designed to enhance emotional well-being. By integrating technology with mental health support, </a:t>
            </a:r>
            <a:r>
              <a:rPr lang="en-US" sz="2000" dirty="0" err="1">
                <a:solidFill>
                  <a:srgbClr val="002060"/>
                </a:solidFill>
                <a:latin typeface="Cooper Black"/>
              </a:rPr>
              <a:t>FeelWell</a:t>
            </a:r>
            <a:r>
              <a:rPr lang="en-US" sz="2000" dirty="0">
                <a:solidFill>
                  <a:srgbClr val="002060"/>
                </a:solidFill>
                <a:latin typeface="Cooper Black"/>
              </a:rPr>
              <a:t> aims to create a positive and comforting space for users to improve their mood and overall mental health.</a:t>
            </a:r>
          </a:p>
        </p:txBody>
      </p:sp>
      <p:pic>
        <p:nvPicPr>
          <p:cNvPr id="6" name="Picture 5" descr="A poster with text and flowers&#10;&#10;AI-generated content may be incorrect.">
            <a:extLst>
              <a:ext uri="{FF2B5EF4-FFF2-40B4-BE49-F238E27FC236}">
                <a16:creationId xmlns:a16="http://schemas.microsoft.com/office/drawing/2014/main" id="{CF3EA169-9EB3-12BD-5D98-9CA84EDA1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650" y="1089837"/>
            <a:ext cx="3916561" cy="493528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7699390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AD9CB-BF12-A734-38D7-5851C74BF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29" y="1154226"/>
            <a:ext cx="11182142" cy="1396076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Cooper Black"/>
              </a:rPr>
              <a:t>     </a:t>
            </a:r>
            <a:r>
              <a:rPr lang="en-US" sz="2800" dirty="0" err="1">
                <a:solidFill>
                  <a:srgbClr val="002060"/>
                </a:solidFill>
                <a:latin typeface="Cooper Black"/>
              </a:rPr>
              <a:t>FeelWell</a:t>
            </a:r>
            <a:r>
              <a:rPr lang="en-US" sz="2800" dirty="0">
                <a:solidFill>
                  <a:srgbClr val="002060"/>
                </a:solidFill>
                <a:latin typeface="Cooper Black"/>
              </a:rPr>
              <a:t> – Your Emotional Well Being Companion</a:t>
            </a:r>
            <a:r>
              <a:rPr lang="en-US" sz="3800" dirty="0">
                <a:solidFill>
                  <a:srgbClr val="002060"/>
                </a:solidFill>
                <a:latin typeface="Cooper Black"/>
              </a:rPr>
              <a:t> </a:t>
            </a:r>
            <a:r>
              <a:rPr lang="en-US" sz="2800" dirty="0">
                <a:solidFill>
                  <a:srgbClr val="002060"/>
                </a:solidFill>
                <a:latin typeface="Cooper Black"/>
              </a:rPr>
              <a:t> </a:t>
            </a:r>
            <a:endParaRPr lang="en-US" dirty="0">
              <a:solidFill>
                <a:srgbClr val="262626"/>
              </a:solidFill>
              <a:latin typeface="Century Gothic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19D99-F1C4-614B-A4CD-2CD40DB2A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5972" y="2248948"/>
            <a:ext cx="8915400" cy="3777622"/>
          </a:xfr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u="sng" dirty="0">
                <a:solidFill>
                  <a:srgbClr val="002060"/>
                </a:solidFill>
                <a:latin typeface="Cooper Black" panose="0208090404030B020404" pitchFamily="18" charset="0"/>
                <a:ea typeface="Calibri"/>
                <a:cs typeface="Calibri"/>
              </a:rPr>
              <a:t>Mood-Based Song Recommendations</a:t>
            </a:r>
            <a:endParaRPr lang="en-US" b="1" u="sng" dirty="0">
              <a:solidFill>
                <a:srgbClr val="002060"/>
              </a:solidFill>
              <a:latin typeface="Cooper Black" panose="0208090404030B0204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002060"/>
                </a:solidFill>
                <a:latin typeface="Cooper Black" panose="0208090404030B020404" pitchFamily="18" charset="0"/>
                <a:ea typeface="+mn-lt"/>
                <a:cs typeface="+mn-lt"/>
              </a:rPr>
              <a:t>Our app suggests personalized songs based on the user’s selected mood, helping to uplift their spirits, relax, or provide comfort through music therapy.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latin typeface="Cooper Black" panose="0208090404030B020404" pitchFamily="18" charset="0"/>
              </a:rPr>
              <a:t> </a:t>
            </a:r>
            <a:r>
              <a:rPr lang="en-IN" b="1" u="sng" dirty="0">
                <a:solidFill>
                  <a:srgbClr val="002060"/>
                </a:solidFill>
                <a:latin typeface="Cooper Black" panose="0208090404030B020404" pitchFamily="18" charset="0"/>
              </a:rPr>
              <a:t>Guided Exercises</a:t>
            </a:r>
            <a:endParaRPr lang="en-IN" u="sng" dirty="0">
              <a:solidFill>
                <a:srgbClr val="002060"/>
              </a:solidFill>
              <a:latin typeface="Cooper Black" panose="0208090404030B020404" pitchFamily="18" charset="0"/>
            </a:endParaRPr>
          </a:p>
          <a:p>
            <a:pPr>
              <a:buNone/>
            </a:pPr>
            <a:r>
              <a:rPr lang="en-IN" dirty="0" err="1">
                <a:solidFill>
                  <a:srgbClr val="002060"/>
                </a:solidFill>
                <a:latin typeface="Cooper Black" panose="0208090404030B020404" pitchFamily="18" charset="0"/>
                <a:ea typeface="+mn-lt"/>
                <a:cs typeface="+mn-lt"/>
              </a:rPr>
              <a:t>FeelWell</a:t>
            </a:r>
            <a:r>
              <a:rPr lang="en-IN" dirty="0">
                <a:solidFill>
                  <a:srgbClr val="002060"/>
                </a:solidFill>
                <a:latin typeface="Cooper Black" panose="0208090404030B020404" pitchFamily="18" charset="0"/>
                <a:ea typeface="+mn-lt"/>
                <a:cs typeface="+mn-lt"/>
              </a:rPr>
              <a:t> includes relaxation techniques, deep breathing exercises, and short workouts designed to reduce stress and promote mental well-being.</a:t>
            </a:r>
            <a:endParaRPr lang="en-IN" dirty="0">
              <a:latin typeface="Cooper Black" panose="0208090404030B0204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latin typeface="Cooper Black" panose="0208090404030B020404" pitchFamily="18" charset="0"/>
              </a:rPr>
              <a:t> </a:t>
            </a:r>
            <a:r>
              <a:rPr lang="en-IN" b="1" u="sng" dirty="0" err="1">
                <a:solidFill>
                  <a:srgbClr val="002060"/>
                </a:solidFill>
                <a:latin typeface="Cooper Black" panose="0208090404030B020404" pitchFamily="18" charset="0"/>
              </a:rPr>
              <a:t>Chatbox</a:t>
            </a:r>
            <a:r>
              <a:rPr lang="en-IN" b="1" u="sng" dirty="0">
                <a:solidFill>
                  <a:srgbClr val="002060"/>
                </a:solidFill>
                <a:latin typeface="Cooper Black" panose="0208090404030B020404" pitchFamily="18" charset="0"/>
              </a:rPr>
              <a:t> for Different Moods</a:t>
            </a:r>
            <a:endParaRPr lang="en-IN" u="sng" dirty="0">
              <a:solidFill>
                <a:srgbClr val="002060"/>
              </a:solidFill>
              <a:latin typeface="Cooper Black" panose="0208090404030B020404" pitchFamily="18" charset="0"/>
            </a:endParaRPr>
          </a:p>
          <a:p>
            <a:pPr>
              <a:buNone/>
            </a:pPr>
            <a:r>
              <a:rPr lang="en-IN" dirty="0">
                <a:solidFill>
                  <a:srgbClr val="002060"/>
                </a:solidFill>
                <a:latin typeface="Cooper Black" panose="0208090404030B020404" pitchFamily="18" charset="0"/>
                <a:ea typeface="+mn-lt"/>
                <a:cs typeface="+mn-lt"/>
              </a:rPr>
              <a:t>An AI-powered </a:t>
            </a:r>
            <a:r>
              <a:rPr lang="en-IN" dirty="0" err="1">
                <a:solidFill>
                  <a:srgbClr val="002060"/>
                </a:solidFill>
                <a:latin typeface="Cooper Black" panose="0208090404030B020404" pitchFamily="18" charset="0"/>
                <a:ea typeface="+mn-lt"/>
                <a:cs typeface="+mn-lt"/>
              </a:rPr>
              <a:t>chatbox</a:t>
            </a:r>
            <a:r>
              <a:rPr lang="en-IN" dirty="0">
                <a:solidFill>
                  <a:srgbClr val="002060"/>
                </a:solidFill>
                <a:latin typeface="Cooper Black" panose="0208090404030B020404" pitchFamily="18" charset="0"/>
                <a:ea typeface="+mn-lt"/>
                <a:cs typeface="+mn-lt"/>
              </a:rPr>
              <a:t> offers emotional support, listens to users, and helps them process their feelings, providing a safe space for self-expression and guidance.</a:t>
            </a:r>
            <a:endParaRPr lang="en-IN" dirty="0">
              <a:latin typeface="Cooper Black" panose="0208090404030B020404" pitchFamily="18" charset="0"/>
            </a:endParaRPr>
          </a:p>
          <a:p>
            <a:pPr marL="0" indent="0">
              <a:buNone/>
            </a:pPr>
            <a:endParaRPr lang="en-IN" dirty="0">
              <a:solidFill>
                <a:srgbClr val="002060"/>
              </a:solidFill>
              <a:latin typeface="Cooper Black"/>
              <a:ea typeface="Batang"/>
              <a:cs typeface="Arial"/>
            </a:endParaRPr>
          </a:p>
        </p:txBody>
      </p:sp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D4F2C418-A050-492F-EC72-D7925F3DB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4339" y="280162"/>
            <a:ext cx="1443888" cy="28967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92260D-A3B8-076C-73E7-D4DC3E7FAA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8484" y="3319737"/>
            <a:ext cx="1449743" cy="3143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87217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988D7-61AE-A943-97A5-38ECB89260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6642" y="136187"/>
            <a:ext cx="8266856" cy="846307"/>
          </a:xfrm>
        </p:spPr>
        <p:txBody>
          <a:bodyPr>
            <a:normAutofit/>
          </a:bodyPr>
          <a:lstStyle/>
          <a:p>
            <a:r>
              <a:rPr lang="en-US" sz="3200" u="sng" dirty="0">
                <a:solidFill>
                  <a:srgbClr val="002060"/>
                </a:solidFill>
                <a:latin typeface="Cooper Black"/>
              </a:rPr>
              <a:t>Upcoming Modifications of Our App</a:t>
            </a:r>
            <a:endParaRPr lang="en-IN" sz="3200" u="sng" dirty="0">
              <a:solidFill>
                <a:srgbClr val="002060"/>
              </a:solidFill>
              <a:latin typeface="Cooper Black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9974E-A052-009D-6D3C-5CB0825F56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3451" y="1138136"/>
            <a:ext cx="9473085" cy="5340485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IN" sz="7200" dirty="0">
                <a:solidFill>
                  <a:srgbClr val="002060"/>
                </a:solidFill>
                <a:latin typeface="Cooper Black"/>
                <a:ea typeface="+mn-lt"/>
                <a:cs typeface="+mn-lt"/>
              </a:rPr>
              <a:t>Our App already includes chat sessions and mood-based song playlists, which are great features. Here are some potential modifications and additions to enhance its impact:</a:t>
            </a:r>
          </a:p>
          <a:p>
            <a:pPr marL="0" indent="0">
              <a:buNone/>
            </a:pPr>
            <a:r>
              <a:rPr lang="en-IN" sz="7200" b="1" u="sng" dirty="0">
                <a:solidFill>
                  <a:srgbClr val="002060"/>
                </a:solidFill>
                <a:latin typeface="Cooper Black"/>
                <a:ea typeface="+mn-lt"/>
                <a:cs typeface="+mn-lt"/>
              </a:rPr>
              <a:t>1. Mood Tracker with Analytics</a:t>
            </a:r>
            <a:endParaRPr lang="en-IN" sz="7200" b="1" u="sng" dirty="0">
              <a:solidFill>
                <a:srgbClr val="002060"/>
              </a:solidFill>
              <a:latin typeface="Cooper Black"/>
            </a:endParaRPr>
          </a:p>
          <a:p>
            <a:r>
              <a:rPr lang="en-IN" sz="7200" dirty="0">
                <a:solidFill>
                  <a:srgbClr val="002060"/>
                </a:solidFill>
                <a:latin typeface="Cooper Black"/>
                <a:ea typeface="+mn-lt"/>
                <a:cs typeface="+mn-lt"/>
              </a:rPr>
              <a:t>Allow users to log their daily emotions.</a:t>
            </a:r>
            <a:endParaRPr lang="en-IN" sz="7200" dirty="0">
              <a:solidFill>
                <a:srgbClr val="002060"/>
              </a:solidFill>
              <a:latin typeface="Cooper Black"/>
            </a:endParaRPr>
          </a:p>
          <a:p>
            <a:r>
              <a:rPr lang="en-IN" sz="7200" dirty="0">
                <a:solidFill>
                  <a:srgbClr val="002060"/>
                </a:solidFill>
                <a:latin typeface="Cooper Black"/>
                <a:ea typeface="+mn-lt"/>
                <a:cs typeface="+mn-lt"/>
              </a:rPr>
              <a:t>Show patterns with graphs to help them understand their triggers and progress.</a:t>
            </a:r>
          </a:p>
          <a:p>
            <a:pPr marL="0" indent="0">
              <a:buNone/>
            </a:pPr>
            <a:r>
              <a:rPr lang="en-IN" sz="7200" u="sng" dirty="0">
                <a:solidFill>
                  <a:srgbClr val="002060"/>
                </a:solidFill>
                <a:latin typeface="Cooper Black"/>
              </a:rPr>
              <a:t>2. </a:t>
            </a:r>
            <a:r>
              <a:rPr lang="en-IN" sz="7200" b="1" u="sng" dirty="0">
                <a:solidFill>
                  <a:srgbClr val="002060"/>
                </a:solidFill>
                <a:latin typeface="Cooper Black"/>
              </a:rPr>
              <a:t>Community &amp; Peer Support</a:t>
            </a:r>
            <a:endParaRPr lang="en-IN" sz="7200" u="sng" dirty="0">
              <a:solidFill>
                <a:srgbClr val="002060"/>
              </a:solidFill>
              <a:latin typeface="Cooper Black"/>
            </a:endParaRPr>
          </a:p>
          <a:p>
            <a:r>
              <a:rPr lang="en-IN" sz="7200" dirty="0">
                <a:solidFill>
                  <a:srgbClr val="002060"/>
                </a:solidFill>
                <a:latin typeface="Cooper Black"/>
                <a:ea typeface="+mn-lt"/>
                <a:cs typeface="+mn-lt"/>
              </a:rPr>
              <a:t>Introduce a safe, moderated forum for users to share experiences.</a:t>
            </a:r>
            <a:endParaRPr lang="en-IN" sz="7200" dirty="0">
              <a:solidFill>
                <a:srgbClr val="002060"/>
              </a:solidFill>
              <a:latin typeface="Cooper Black"/>
            </a:endParaRPr>
          </a:p>
          <a:p>
            <a:r>
              <a:rPr lang="en-IN" sz="7200" dirty="0">
                <a:solidFill>
                  <a:srgbClr val="002060"/>
                </a:solidFill>
                <a:latin typeface="Cooper Black"/>
                <a:ea typeface="+mn-lt"/>
                <a:cs typeface="+mn-lt"/>
              </a:rPr>
              <a:t>Option for anonymous posting to encourage open conversations.</a:t>
            </a:r>
            <a:endParaRPr lang="en-IN" sz="7200" dirty="0">
              <a:solidFill>
                <a:srgbClr val="002060"/>
              </a:solidFill>
              <a:latin typeface="Cooper Black"/>
            </a:endParaRPr>
          </a:p>
          <a:p>
            <a:pPr marL="0" indent="0">
              <a:buNone/>
            </a:pPr>
            <a:r>
              <a:rPr lang="en-IN" sz="7200" u="sng" dirty="0">
                <a:solidFill>
                  <a:srgbClr val="002060"/>
                </a:solidFill>
                <a:latin typeface="Cooper Black"/>
              </a:rPr>
              <a:t>3. </a:t>
            </a:r>
            <a:r>
              <a:rPr lang="en-IN" sz="7200" b="1" u="sng" dirty="0">
                <a:solidFill>
                  <a:srgbClr val="002060"/>
                </a:solidFill>
                <a:latin typeface="Cooper Black"/>
              </a:rPr>
              <a:t>Therapist Directory &amp; Appointments</a:t>
            </a:r>
            <a:endParaRPr lang="en-IN" sz="7200" u="sng" dirty="0">
              <a:solidFill>
                <a:srgbClr val="002060"/>
              </a:solidFill>
              <a:latin typeface="Cooper Black"/>
            </a:endParaRPr>
          </a:p>
          <a:p>
            <a:r>
              <a:rPr lang="en-IN" sz="7200" dirty="0">
                <a:solidFill>
                  <a:srgbClr val="002060"/>
                </a:solidFill>
                <a:latin typeface="Cooper Black"/>
                <a:ea typeface="+mn-lt"/>
                <a:cs typeface="+mn-lt"/>
              </a:rPr>
              <a:t>Provide an option to connect with professionals.</a:t>
            </a:r>
            <a:endParaRPr lang="en-IN" sz="7200" dirty="0">
              <a:solidFill>
                <a:srgbClr val="002060"/>
              </a:solidFill>
              <a:latin typeface="Cooper Black"/>
            </a:endParaRPr>
          </a:p>
          <a:p>
            <a:r>
              <a:rPr lang="en-IN" sz="7200" dirty="0">
                <a:solidFill>
                  <a:srgbClr val="002060"/>
                </a:solidFill>
                <a:latin typeface="Cooper Black"/>
                <a:ea typeface="+mn-lt"/>
                <a:cs typeface="+mn-lt"/>
              </a:rPr>
              <a:t>Integrate appointment booking with therapists.</a:t>
            </a:r>
            <a:endParaRPr lang="en-IN" sz="7200" dirty="0">
              <a:solidFill>
                <a:srgbClr val="002060"/>
              </a:solidFill>
              <a:latin typeface="Cooper Black"/>
            </a:endParaRPr>
          </a:p>
          <a:p>
            <a:pPr marL="0" indent="0">
              <a:buNone/>
            </a:pPr>
            <a:r>
              <a:rPr lang="en-IN" sz="7200" u="sng" dirty="0">
                <a:solidFill>
                  <a:srgbClr val="002060"/>
                </a:solidFill>
                <a:latin typeface="Cooper Black"/>
                <a:ea typeface="+mn-lt"/>
                <a:cs typeface="+mn-lt"/>
              </a:rPr>
              <a:t>4. </a:t>
            </a:r>
            <a:r>
              <a:rPr lang="en-IN" sz="7200" b="1" u="sng" dirty="0">
                <a:solidFill>
                  <a:srgbClr val="002060"/>
                </a:solidFill>
                <a:latin typeface="Cooper Black"/>
                <a:ea typeface="+mn-lt"/>
                <a:cs typeface="+mn-lt"/>
              </a:rPr>
              <a:t>Voice Interaction &amp; Mood Detection</a:t>
            </a:r>
            <a:endParaRPr lang="en-IN" sz="7200" b="1" u="sng" dirty="0">
              <a:solidFill>
                <a:srgbClr val="002060"/>
              </a:solidFill>
              <a:latin typeface="Cooper Black"/>
            </a:endParaRPr>
          </a:p>
          <a:p>
            <a:r>
              <a:rPr lang="en-IN" sz="7200" dirty="0">
                <a:solidFill>
                  <a:srgbClr val="002060"/>
                </a:solidFill>
                <a:latin typeface="Cooper Black"/>
                <a:ea typeface="+mn-lt"/>
                <a:cs typeface="+mn-lt"/>
              </a:rPr>
              <a:t>Let users talk instead of typing, using voice notes for mood tracking.</a:t>
            </a:r>
            <a:endParaRPr lang="en-IN" sz="7200" dirty="0">
              <a:solidFill>
                <a:srgbClr val="002060"/>
              </a:solidFill>
              <a:latin typeface="Cooper Black"/>
            </a:endParaRPr>
          </a:p>
          <a:p>
            <a:r>
              <a:rPr lang="en-IN" sz="7200" dirty="0">
                <a:solidFill>
                  <a:srgbClr val="002060"/>
                </a:solidFill>
                <a:latin typeface="Cooper Black"/>
                <a:ea typeface="+mn-lt"/>
                <a:cs typeface="+mn-lt"/>
              </a:rPr>
              <a:t>AI can </a:t>
            </a:r>
            <a:r>
              <a:rPr lang="en-IN" sz="7200" dirty="0" err="1">
                <a:solidFill>
                  <a:srgbClr val="002060"/>
                </a:solidFill>
                <a:latin typeface="Cooper Black"/>
                <a:ea typeface="+mn-lt"/>
                <a:cs typeface="+mn-lt"/>
              </a:rPr>
              <a:t>analyze</a:t>
            </a:r>
            <a:r>
              <a:rPr lang="en-IN" sz="7200" dirty="0">
                <a:solidFill>
                  <a:srgbClr val="002060"/>
                </a:solidFill>
                <a:latin typeface="Cooper Black"/>
                <a:ea typeface="+mn-lt"/>
                <a:cs typeface="+mn-lt"/>
              </a:rPr>
              <a:t> voice tone to detect emotional states and suggest suitable content.</a:t>
            </a:r>
            <a:endParaRPr lang="en-IN" sz="7200" dirty="0">
              <a:solidFill>
                <a:srgbClr val="002060"/>
              </a:solidFill>
              <a:latin typeface="Cooper Black"/>
            </a:endParaRPr>
          </a:p>
          <a:p>
            <a:endParaRPr lang="en-IN" dirty="0"/>
          </a:p>
          <a:p>
            <a:endParaRPr lang="en-IN" dirty="0"/>
          </a:p>
        </p:txBody>
      </p:sp>
      <p:pic>
        <p:nvPicPr>
          <p:cNvPr id="6" name="Picture 5" descr="A person sitting in a lotus position with seven chakras&#10;&#10;AI-generated content may be incorrect.">
            <a:extLst>
              <a:ext uri="{FF2B5EF4-FFF2-40B4-BE49-F238E27FC236}">
                <a16:creationId xmlns:a16="http://schemas.microsoft.com/office/drawing/2014/main" id="{0284BD44-ED8E-E5E4-D2BC-18959ADC7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3892" y="3808569"/>
            <a:ext cx="2119151" cy="2079413"/>
          </a:xfrm>
          <a:prstGeom prst="ellipse">
            <a:avLst/>
          </a:prstGeom>
          <a:ln w="12700">
            <a:solidFill>
              <a:schemeClr val="tx1"/>
            </a:solidFill>
          </a:ln>
          <a:effectLst>
            <a:softEdge rad="112500"/>
          </a:effectLst>
        </p:spPr>
      </p:pic>
      <p:pic>
        <p:nvPicPr>
          <p:cNvPr id="4" name="Picture 3" descr="A brain with a stethoscope and flowers&#10;&#10;AI-generated content may be incorrect.">
            <a:extLst>
              <a:ext uri="{FF2B5EF4-FFF2-40B4-BE49-F238E27FC236}">
                <a16:creationId xmlns:a16="http://schemas.microsoft.com/office/drawing/2014/main" id="{7C483723-A8D8-B5D8-62F9-617EE7740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945" y="1857562"/>
            <a:ext cx="2007055" cy="1680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41641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85687-765F-E4BD-92D5-74A5EDD8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6976" y="349535"/>
            <a:ext cx="8911687" cy="1280890"/>
          </a:xfrm>
        </p:spPr>
        <p:txBody>
          <a:bodyPr>
            <a:normAutofit/>
          </a:bodyPr>
          <a:lstStyle/>
          <a:p>
            <a:r>
              <a:rPr lang="en-IN" sz="4000" b="1" u="sng" dirty="0">
                <a:solidFill>
                  <a:srgbClr val="002060"/>
                </a:solidFill>
                <a:latin typeface="Cooper Black"/>
              </a:rPr>
              <a:t>Conclusion</a:t>
            </a:r>
            <a:endParaRPr lang="en-IN" sz="4000" u="sng" dirty="0">
              <a:solidFill>
                <a:srgbClr val="002060"/>
              </a:solidFill>
              <a:latin typeface="Cooper Black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FF352-1BDC-3B1E-C539-E62CB98FE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4082" y="1351006"/>
            <a:ext cx="10614453" cy="515745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ooper Black"/>
              </a:rPr>
              <a:t> </a:t>
            </a:r>
            <a:r>
              <a:rPr lang="en-US" sz="2400" dirty="0">
                <a:solidFill>
                  <a:srgbClr val="002060"/>
                </a:solidFill>
                <a:latin typeface="Cooper Black"/>
              </a:rPr>
              <a:t>Our mental health and well-being app is designed to provide a holistic support system for users by integrating personalized features such as mood-based song playlists, interactive chat sessions, and innovative relaxation techniques. By incorporating AI-driven support, mood tracking, guided mindfulness, and a strong community space, we aim to make mental wellness accessible and engaging.</a:t>
            </a:r>
          </a:p>
          <a:p>
            <a:pPr marL="0" indent="0">
              <a:buNone/>
            </a:pPr>
            <a:endParaRPr lang="en-IN" sz="2400" dirty="0">
              <a:solidFill>
                <a:srgbClr val="002060"/>
              </a:solidFill>
              <a:latin typeface="Cooper Black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002060"/>
                </a:solidFill>
                <a:latin typeface="Cooper Black"/>
                <a:ea typeface="+mn-lt"/>
                <a:cs typeface="+mn-lt"/>
              </a:rPr>
              <a:t>Our goal is to create a safe, supportive, and effective digital companion that empowers individuals to manage their emotions, build resilience, and prioritize their mental well-being.</a:t>
            </a:r>
            <a:endParaRPr lang="en-IN" sz="2400" dirty="0">
              <a:latin typeface="Cooper Black"/>
            </a:endParaRPr>
          </a:p>
        </p:txBody>
      </p:sp>
    </p:spTree>
    <p:extLst>
      <p:ext uri="{BB962C8B-B14F-4D97-AF65-F5344CB8AC3E}">
        <p14:creationId xmlns:p14="http://schemas.microsoft.com/office/powerpoint/2010/main" val="190060836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2D7AD-8088-0ABB-9983-3BE336D63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5872" y="2829538"/>
            <a:ext cx="4667039" cy="1198923"/>
          </a:xfrm>
        </p:spPr>
        <p:txBody>
          <a:bodyPr>
            <a:normAutofit/>
          </a:bodyPr>
          <a:lstStyle/>
          <a:p>
            <a:r>
              <a:rPr lang="en-IN" sz="6000" dirty="0">
                <a:solidFill>
                  <a:srgbClr val="002060"/>
                </a:solidFill>
                <a:latin typeface="Cooper Black" panose="0208090404030B0204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07906746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</TotalTime>
  <Words>507</Words>
  <Application>Microsoft Office PowerPoint</Application>
  <PresentationFormat>Widescreen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Century Gothic</vt:lpstr>
      <vt:lpstr>Cooper Black</vt:lpstr>
      <vt:lpstr>Wingdings</vt:lpstr>
      <vt:lpstr>Wingdings 3</vt:lpstr>
      <vt:lpstr>Wisp</vt:lpstr>
      <vt:lpstr>PowerPoint Presentation</vt:lpstr>
      <vt:lpstr>Using Open Innovation for Mental Health </vt:lpstr>
      <vt:lpstr>Mental Health</vt:lpstr>
      <vt:lpstr>     FeelWell – Your Emotional Well Being Companion  </vt:lpstr>
      <vt:lpstr>Upcoming Modifications of Our App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Harshita Gupta</dc:creator>
  <cp:lastModifiedBy>Harshita Gupta</cp:lastModifiedBy>
  <cp:revision>4</cp:revision>
  <dcterms:created xsi:type="dcterms:W3CDTF">2025-02-20T18:05:09Z</dcterms:created>
  <dcterms:modified xsi:type="dcterms:W3CDTF">2025-02-22T07:21:52Z</dcterms:modified>
</cp:coreProperties>
</file>